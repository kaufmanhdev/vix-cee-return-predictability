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wmf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bg>
      <p:bgPr>
        <a:solidFill>
          <a:srgbClr val="BC2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/>
          <p:nvPr/>
        </p:nvPicPr>
        <p:blipFill>
          <a:blip r:embed="rId2"/>
          <a:stretch/>
        </p:blipFill>
        <p:spPr>
          <a:xfrm>
            <a:off x="10462320" y="5238720"/>
            <a:ext cx="910080" cy="91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 hasCustomPrompt="1"/>
          </p:nvPr>
        </p:nvSpPr>
        <p:spPr>
          <a:xfrm>
            <a:off x="818280" y="1597320"/>
            <a:ext cx="9142920" cy="25790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7200" b="1" u="none" strike="noStrike">
                <a:solidFill>
                  <a:schemeClr val="lt1"/>
                </a:solidFill>
                <a:effectLst/>
                <a:uFillTx/>
                <a:latin typeface="Corbe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72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Názov prezentácie</a:t>
            </a:r>
            <a:endParaRPr lang="en-GB" sz="7200" b="1" u="none" strike="noStrike">
              <a:solidFill>
                <a:schemeClr val="lt1"/>
              </a:solidFill>
              <a:effectLst/>
              <a:uFillTx/>
              <a:latin typeface="Corbe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 hasCustomPrompt="1"/>
          </p:nvPr>
        </p:nvSpPr>
        <p:spPr>
          <a:xfrm>
            <a:off x="818280" y="4206960"/>
            <a:ext cx="5276520" cy="4291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>
            <a:lvl1pPr indent="0" algn="l" defTabSz="914400">
              <a:lnSpc>
                <a:spcPts val="3200"/>
              </a:lnSpc>
              <a:buNone/>
              <a:tabLst>
                <a:tab pos="0" algn="l"/>
              </a:tabLst>
              <a:defRPr lang="en-SK" sz="3600" b="1" u="none" strike="noStrike">
                <a:solidFill>
                  <a:schemeClr val="lt1"/>
                </a:solidFill>
                <a:effectLst/>
                <a:uFillTx/>
                <a:latin typeface="Corbel"/>
              </a:defRPr>
            </a:lvl1pPr>
          </a:lstStyle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en-SK" sz="36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Meno </a:t>
            </a:r>
            <a:r>
              <a:rPr lang="sk-SK" sz="36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a p</a:t>
            </a:r>
            <a:r>
              <a:rPr lang="en-SK" sz="36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riezvisko</a:t>
            </a:r>
            <a:endParaRPr lang="sk-SK" sz="36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 hasCustomPrompt="1"/>
          </p:nvPr>
        </p:nvSpPr>
        <p:spPr>
          <a:xfrm>
            <a:off x="818280" y="4633200"/>
            <a:ext cx="10746000" cy="12099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>
            <a:lvl1pPr indent="0" algn="l" defTabSz="914400">
              <a:lnSpc>
                <a:spcPts val="3200"/>
              </a:lnSpc>
              <a:buNone/>
              <a:tabLst>
                <a:tab pos="0" algn="l"/>
              </a:tabLst>
              <a:defRPr lang="sk-SK" sz="2800" b="1" u="none" strike="noStrike">
                <a:solidFill>
                  <a:srgbClr val="000000"/>
                </a:solidFill>
                <a:effectLst/>
                <a:uFillTx/>
                <a:latin typeface="Corbel"/>
              </a:defRPr>
            </a:lvl1pPr>
            <a:lvl2pPr indent="0" algn="l" defTabSz="914400">
              <a:lnSpc>
                <a:spcPts val="3200"/>
              </a:lnSpc>
              <a:buNone/>
              <a:tabLst>
                <a:tab pos="0" algn="l"/>
              </a:tabLst>
              <a:defRPr lang="sk-SK" sz="2800" b="1" u="none" strike="noStrike">
                <a:solidFill>
                  <a:srgbClr val="000000"/>
                </a:solidFill>
                <a:effectLst/>
                <a:uFillTx/>
                <a:latin typeface="Corbel"/>
              </a:defRPr>
            </a:lvl2pPr>
            <a:lvl3pPr indent="0" algn="l" defTabSz="914400">
              <a:lnSpc>
                <a:spcPts val="3200"/>
              </a:lnSpc>
              <a:buNone/>
              <a:tabLst>
                <a:tab pos="0" algn="l"/>
              </a:tabLst>
              <a:defRPr lang="sk-SK" sz="2800" b="1" u="none" strike="noStrike">
                <a:solidFill>
                  <a:srgbClr val="000000"/>
                </a:solidFill>
                <a:effectLst/>
                <a:uFillTx/>
                <a:latin typeface="Corbel"/>
              </a:defRPr>
            </a:lvl3pPr>
            <a:lvl4pPr indent="0" algn="l" defTabSz="914400">
              <a:lnSpc>
                <a:spcPts val="3200"/>
              </a:lnSpc>
              <a:buNone/>
              <a:tabLst>
                <a:tab pos="0" algn="l"/>
              </a:tabLst>
              <a:defRPr lang="sk-SK" sz="2800" b="1" u="none" strike="noStrike">
                <a:solidFill>
                  <a:srgbClr val="000000"/>
                </a:solidFill>
                <a:effectLst/>
                <a:uFillTx/>
                <a:latin typeface="Corbel"/>
              </a:defRPr>
            </a:lvl4pPr>
            <a:lvl5pPr indent="0" algn="l" defTabSz="914400">
              <a:lnSpc>
                <a:spcPts val="3200"/>
              </a:lnSpc>
              <a:buNone/>
              <a:tabLst>
                <a:tab pos="0" algn="l"/>
              </a:tabLst>
              <a:defRPr lang="sk-SK" sz="3600" b="1" u="none" strike="noStrike">
                <a:solidFill>
                  <a:srgbClr val="000000"/>
                </a:solidFill>
                <a:effectLst/>
                <a:uFillTx/>
                <a:latin typeface="Corbel"/>
              </a:defRPr>
            </a:lvl5pPr>
          </a:lstStyle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sk-SK" sz="2800" b="1" u="none" strike="noStrike">
                <a:solidFill>
                  <a:srgbClr val="000000"/>
                </a:solidFill>
                <a:effectLst/>
                <a:uFillTx/>
                <a:latin typeface="Corbel"/>
              </a:rPr>
              <a:t>ŠVOČ – Študentská vysokoškolská odborná činnosť</a:t>
            </a:r>
            <a:endParaRPr lang="sk-SK" sz="28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sk-SK" sz="2800" b="1" u="none" strike="noStrike">
                <a:solidFill>
                  <a:srgbClr val="000000"/>
                </a:solidFill>
                <a:effectLst/>
                <a:uFillTx/>
                <a:latin typeface="Corbel"/>
              </a:rPr>
              <a:t>Dátum....05.2022</a:t>
            </a:r>
            <a:endParaRPr lang="sk-SK" sz="28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sk-SK" sz="2800" b="1" u="none" strike="noStrike">
                <a:solidFill>
                  <a:srgbClr val="000000"/>
                </a:solidFill>
                <a:effectLst/>
                <a:uFillTx/>
                <a:latin typeface="Corbel"/>
              </a:rPr>
              <a:t>Univerzita Komenského v Bratislave, Fakulta managementu </a:t>
            </a:r>
            <a:endParaRPr lang="sk-SK" sz="28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sk-SK" sz="2800" b="1" u="none" strike="noStrike">
                <a:solidFill>
                  <a:srgbClr val="000000"/>
                </a:solidFill>
                <a:effectLst/>
                <a:uFillTx/>
                <a:latin typeface="Corbel"/>
              </a:rPr>
              <a:t>Odbojárov 10, 820 05 Bratislava 25, SLOVENSKO</a:t>
            </a:r>
            <a:endParaRPr lang="sk-SK" sz="28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endParaRPr lang="sk-SK" sz="36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</p:txBody>
      </p:sp>
      <p:pic>
        <p:nvPicPr>
          <p:cNvPr id="6" name="Picture 9"/>
          <p:cNvPicPr/>
          <p:nvPr/>
        </p:nvPicPr>
        <p:blipFill>
          <a:blip r:embed="rId3"/>
          <a:stretch/>
        </p:blipFill>
        <p:spPr>
          <a:xfrm>
            <a:off x="818280" y="753480"/>
            <a:ext cx="2923560" cy="877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/>
          <p:cNvPicPr/>
          <p:nvPr/>
        </p:nvPicPr>
        <p:blipFill>
          <a:blip r:embed="rId2"/>
          <a:stretch/>
        </p:blipFill>
        <p:spPr>
          <a:xfrm>
            <a:off x="10462320" y="743400"/>
            <a:ext cx="910080" cy="91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13"/>
          <p:cNvPicPr/>
          <p:nvPr/>
        </p:nvPicPr>
        <p:blipFill>
          <a:blip r:embed="rId3"/>
          <a:stretch/>
        </p:blipFill>
        <p:spPr>
          <a:xfrm>
            <a:off x="10441440" y="5231880"/>
            <a:ext cx="945720" cy="94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 hasCustomPrompt="1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9600" b="0" u="none" strike="noStrike">
                <a:solidFill>
                  <a:srgbClr val="BC204B"/>
                </a:solidFill>
                <a:effectLst/>
                <a:uFillTx/>
                <a:latin typeface="Corbe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9600" b="0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01</a:t>
            </a:r>
            <a:endParaRPr lang="en-GB" sz="9600" b="0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 hasCustomPrompt="1"/>
          </p:nvPr>
        </p:nvSpPr>
        <p:spPr>
          <a:xfrm>
            <a:off x="819000" y="2154240"/>
            <a:ext cx="10553400" cy="265176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7200" b="1" u="none" strike="noStrike">
                <a:solidFill>
                  <a:srgbClr val="BC204B"/>
                </a:solidFill>
                <a:effectLst/>
                <a:uFillTx/>
                <a:latin typeface="Corbe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7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Názov sekcie</a:t>
            </a:r>
            <a:endParaRPr lang="en-SK" sz="7200" b="0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 hasCustomPrompt="1"/>
          </p:nvPr>
        </p:nvSpPr>
        <p:spPr>
          <a:xfrm>
            <a:off x="818280" y="5199120"/>
            <a:ext cx="5276520" cy="4291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>
            <a:lvl1pPr indent="0" algn="l" defTabSz="914400">
              <a:lnSpc>
                <a:spcPts val="3200"/>
              </a:lnSpc>
              <a:buNone/>
              <a:tabLst>
                <a:tab pos="0" algn="l"/>
              </a:tabLst>
              <a:defRPr lang="en-SK" sz="3600" b="1" u="none" strike="noStrike">
                <a:solidFill>
                  <a:srgbClr val="BC204B"/>
                </a:solidFill>
                <a:effectLst/>
                <a:uFillTx/>
                <a:latin typeface="Corbel"/>
              </a:defRPr>
            </a:lvl1pPr>
          </a:lstStyle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en-SK" sz="36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Meno Priezvisko</a:t>
            </a:r>
            <a:endParaRPr lang="en-SK" sz="3600" b="0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 hasCustomPrompt="1"/>
          </p:nvPr>
        </p:nvSpPr>
        <p:spPr>
          <a:xfrm>
            <a:off x="818280" y="5646960"/>
            <a:ext cx="5276520" cy="4291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>
            <a:lvl1pPr indent="0" algn="l" defTabSz="914400">
              <a:lnSpc>
                <a:spcPts val="3200"/>
              </a:lnSpc>
              <a:buNone/>
              <a:tabLst>
                <a:tab pos="0" algn="l"/>
              </a:tabLst>
              <a:defRPr lang="en-SK" sz="2800" b="0" u="none" strike="noStrike">
                <a:solidFill>
                  <a:srgbClr val="BC204B"/>
                </a:solidFill>
                <a:effectLst/>
                <a:uFillTx/>
                <a:latin typeface="Corbel"/>
              </a:defRPr>
            </a:lvl1pPr>
          </a:lstStyle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en-SK" sz="2800" b="0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Pozícia</a:t>
            </a:r>
            <a:endParaRPr lang="en-SK" sz="2800" b="0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6"/>
          <p:cNvPicPr/>
          <p:nvPr/>
        </p:nvPicPr>
        <p:blipFill>
          <a:blip r:embed="rId2"/>
          <a:stretch/>
        </p:blipFill>
        <p:spPr>
          <a:xfrm>
            <a:off x="10462320" y="743400"/>
            <a:ext cx="910080" cy="91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7"/>
          <p:cNvPicPr/>
          <p:nvPr/>
        </p:nvPicPr>
        <p:blipFill>
          <a:blip r:embed="rId3"/>
          <a:stretch/>
        </p:blipFill>
        <p:spPr>
          <a:xfrm>
            <a:off x="10441440" y="5231880"/>
            <a:ext cx="945720" cy="94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sk-SK" sz="4000" b="1" u="none" strike="noStrike">
                <a:solidFill>
                  <a:srgbClr val="BC204B"/>
                </a:solidFill>
                <a:effectLst/>
                <a:uFillTx/>
                <a:latin typeface="Corbe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k-SK" sz="40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Kliknutím upravte štýl predlohy nadpisu</a:t>
            </a:r>
            <a:endParaRPr lang="sk-SK" sz="40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9623160" cy="432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defRPr lang="sk-SK" sz="2400" b="0" u="none" strike="noStrike">
                <a:solidFill>
                  <a:schemeClr val="dk1"/>
                </a:solidFill>
                <a:effectLst/>
                <a:uFillTx/>
                <a:latin typeface="Corbel"/>
              </a:defRPr>
            </a:lvl1pPr>
            <a:lvl2pPr lvl="1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defRPr lang="sk-SK" sz="2400" b="0" u="none" strike="noStrike">
                <a:solidFill>
                  <a:schemeClr val="dk1"/>
                </a:solidFill>
                <a:effectLst/>
                <a:uFillTx/>
                <a:latin typeface="Corbel"/>
              </a:defRPr>
            </a:lvl2pPr>
            <a:lvl3pPr lvl="2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defRPr lang="sk-SK" sz="2000" b="0" u="none" strike="noStrike">
                <a:solidFill>
                  <a:schemeClr val="dk1"/>
                </a:solidFill>
                <a:effectLst/>
                <a:uFillTx/>
                <a:latin typeface="Corbel"/>
              </a:defRPr>
            </a:lvl3pPr>
            <a:lvl4pPr lvl="3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def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defRPr>
            </a:lvl4pPr>
            <a:lvl5pPr lvl="4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def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defRPr>
            </a:lvl5pPr>
          </a:lstStyle>
          <a:p>
            <a:pPr marL="228600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sk-SK" sz="24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Kliknite sem a upravte štýly predlohy textu</a:t>
            </a:r>
            <a:endParaRPr lang="sk-SK" sz="24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685800" lvl="1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sk-SK" sz="24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Druhá úroveň</a:t>
            </a:r>
            <a:endParaRPr lang="sk-SK" sz="24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1143000" lvl="2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sk-SK" sz="20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Tretia úroveň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1600200" lvl="3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Štvrtá úroveň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057400" lvl="4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Piata úroveň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9"/>
          <p:cNvSpPr/>
          <p:nvPr/>
        </p:nvSpPr>
        <p:spPr>
          <a:xfrm>
            <a:off x="9630720" y="0"/>
            <a:ext cx="2559960" cy="6856920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K" sz="1800" b="0" u="none" strike="noStrike">
              <a:solidFill>
                <a:schemeClr val="lt1"/>
              </a:solidFill>
              <a:effectLst/>
              <a:uFillTx/>
              <a:latin typeface="Corbel"/>
            </a:endParaRPr>
          </a:p>
        </p:txBody>
      </p:sp>
      <p:pic>
        <p:nvPicPr>
          <p:cNvPr id="18" name="Picture 7"/>
          <p:cNvPicPr/>
          <p:nvPr/>
        </p:nvPicPr>
        <p:blipFill>
          <a:blip r:embed="rId2"/>
          <a:stretch/>
        </p:blipFill>
        <p:spPr>
          <a:xfrm>
            <a:off x="10462320" y="743400"/>
            <a:ext cx="910080" cy="91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8"/>
          <p:cNvPicPr/>
          <p:nvPr/>
        </p:nvPicPr>
        <p:blipFill>
          <a:blip r:embed="rId3"/>
          <a:stretch/>
        </p:blipFill>
        <p:spPr>
          <a:xfrm>
            <a:off x="10462320" y="5238720"/>
            <a:ext cx="910080" cy="91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81147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rmAutofit fontScale="85000" lnSpcReduction="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sk-SK" sz="4000" b="1" u="none" strike="noStrike">
                <a:solidFill>
                  <a:srgbClr val="BC204B"/>
                </a:solidFill>
                <a:effectLst/>
                <a:uFillTx/>
                <a:latin typeface="Corbe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k-SK" sz="40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Kliknutím upravte štýl predlohy nadpisu</a:t>
            </a:r>
            <a:endParaRPr lang="sk-SK" sz="40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8114760" cy="432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defRPr lang="sk-SK" sz="2400" b="0" u="none" strike="noStrike">
                <a:solidFill>
                  <a:schemeClr val="dk1"/>
                </a:solidFill>
                <a:effectLst/>
                <a:uFillTx/>
                <a:latin typeface="Corbel"/>
              </a:defRPr>
            </a:lvl1pPr>
            <a:lvl2pPr lvl="1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defRPr lang="sk-SK" sz="2400" b="0" u="none" strike="noStrike">
                <a:solidFill>
                  <a:schemeClr val="dk1"/>
                </a:solidFill>
                <a:effectLst/>
                <a:uFillTx/>
                <a:latin typeface="Corbel"/>
              </a:defRPr>
            </a:lvl2pPr>
            <a:lvl3pPr lvl="2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defRPr lang="sk-SK" sz="2000" b="0" u="none" strike="noStrike">
                <a:solidFill>
                  <a:schemeClr val="dk1"/>
                </a:solidFill>
                <a:effectLst/>
                <a:uFillTx/>
                <a:latin typeface="Corbel"/>
              </a:defRPr>
            </a:lvl3pPr>
            <a:lvl4pPr lvl="3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def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defRPr>
            </a:lvl4pPr>
            <a:lvl5pPr lvl="4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def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defRPr>
            </a:lvl5pPr>
          </a:lstStyle>
          <a:p>
            <a:pPr marL="228600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sk-SK" sz="24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Kliknite sem a upravte štýly predlohy textu</a:t>
            </a:r>
            <a:endParaRPr lang="sk-SK" sz="24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685800" lvl="1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sk-SK" sz="24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Druhá úroveň</a:t>
            </a:r>
            <a:endParaRPr lang="sk-SK" sz="24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1143000" lvl="2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sk-SK" sz="20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Tretia úroveň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1600200" lvl="3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Štvrtá úroveň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057400" lvl="4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Piata úroveň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 hasCustomPrompt="1"/>
          </p:nvPr>
        </p:nvSpPr>
        <p:spPr>
          <a:xfrm>
            <a:off x="818280" y="1717920"/>
            <a:ext cx="9142920" cy="196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Does Investor Fear Travel?</a:t>
            </a:r>
            <a:endParaRPr lang="en-GB" sz="4400" b="1" u="none" strike="noStrike">
              <a:solidFill>
                <a:schemeClr val="lt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VIX Spillovers and Equity Return Predictability in Central European Markets</a:t>
            </a:r>
            <a:endParaRPr lang="en-GB" sz="2400" b="1" u="none" strike="noStrike">
              <a:solidFill>
                <a:schemeClr val="lt1"/>
              </a:solidFill>
              <a:effectLst/>
              <a:uFillTx/>
              <a:latin typeface="Corbe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hasCustomPrompt="1"/>
          </p:nvPr>
        </p:nvSpPr>
        <p:spPr>
          <a:xfrm>
            <a:off x="818280" y="3700080"/>
            <a:ext cx="6998760" cy="6490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Herman Kaufman   </a:t>
            </a:r>
            <a:r>
              <a:rPr lang="en-US" sz="1500" b="1" i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(Konzultant: Urban Kovac)</a:t>
            </a:r>
            <a:endParaRPr lang="sk-SK" sz="15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hasCustomPrompt="1"/>
          </p:nvPr>
        </p:nvSpPr>
        <p:spPr>
          <a:xfrm>
            <a:off x="818280" y="4500000"/>
            <a:ext cx="10746000" cy="12099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sk-SK" sz="28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ŠVOČ – Študentská vedecko-odborná činnosť</a:t>
            </a:r>
            <a:endParaRPr lang="sk-SK" sz="28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sk-SK" sz="18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Dátum 20.05.2026</a:t>
            </a:r>
            <a:endParaRPr lang="sk-SK" sz="18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sk-SK" sz="18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Univerzita Komenského v Bratislave, Fakulta managementu </a:t>
            </a:r>
            <a:endParaRPr lang="sk-SK" sz="18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sk-SK" sz="18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Odbojárov 10, 820 18 Bratislava 218, SLOVENSKO</a:t>
            </a:r>
            <a:endParaRPr lang="sk-SK" sz="18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endParaRPr lang="sk-SK" sz="3600" b="1" u="none" strike="noStrike">
              <a:solidFill>
                <a:srgbClr val="000000"/>
              </a:solidFill>
              <a:effectLst/>
              <a:uFillTx/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k-SK" sz="40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Obsah</a:t>
            </a:r>
            <a:endParaRPr lang="sk-SK" sz="40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9623160" cy="432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Motivation and research question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28600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Data and methodology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28600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Empirical results across five specifications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28600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Main findings and implications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28600" indent="-22860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Questions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7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Motivation</a:t>
            </a:r>
            <a:endParaRPr lang="sk-SK" sz="32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19000" y="1500120"/>
            <a:ext cx="5198760" cy="469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16 March 2020: VIX hits 82.69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CEE markets crashed in near-synchrony: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600120" indent="-249840" algn="l" defTabSz="914400">
              <a:lnSpc>
                <a:spcPts val="32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WIG20 −14%, BUX −12%, ATX −15%</a:t>
            </a:r>
            <a:endParaRPr lang="sk-SK" sz="16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Faster than economic linkages can explain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Does global fear predict next-day CEE returns?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31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Picture 5" descr="fig1_raw_series.png"/>
          <p:cNvPicPr/>
          <p:nvPr/>
        </p:nvPicPr>
        <p:blipFill>
          <a:blip r:embed="rId1"/>
          <a:stretch/>
        </p:blipFill>
        <p:spPr>
          <a:xfrm>
            <a:off x="6400080" y="2031480"/>
            <a:ext cx="4498920" cy="353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fig1_raw_series.png"/>
          <p:cNvPicPr/>
          <p:nvPr/>
        </p:nvPicPr>
        <p:blipFill>
          <a:blip r:embed="rId1"/>
          <a:stretch/>
        </p:blipFill>
        <p:spPr>
          <a:xfrm>
            <a:off x="2470320" y="500040"/>
            <a:ext cx="7250400" cy="569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Research question</a:t>
            </a:r>
            <a:endParaRPr lang="sk-SK" sz="32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9623160" cy="432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Does the VIX, as a measure of US implied volatility, predict next-day returns in Central European equity markets?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Three testable hypotheses: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743040" indent="-28584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H1: VIX changes negatively predict next-day CEE returns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743040" indent="-28584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H2: Predictability is stronger for globally integrated markets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743040" indent="-285840" algn="l" defTabSz="914400">
              <a:lnSpc>
                <a:spcPts val="32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H3: Predictability intensifies during crisis regimes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37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Data and sample</a:t>
            </a:r>
            <a:endParaRPr lang="sk-SK" sz="32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819000" y="1500120"/>
            <a:ext cx="5198760" cy="469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Four CEE indices + VIX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600120" indent="-249840" algn="l" defTabSz="914400">
              <a:lnSpc>
                <a:spcPts val="32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WIG20, BUX, PX (Stooq)</a:t>
            </a:r>
            <a:endParaRPr lang="sk-SK" sz="16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600120" indent="-249840" algn="l" defTabSz="914400">
              <a:lnSpc>
                <a:spcPts val="32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ATX (Wiener Börse)</a:t>
            </a:r>
            <a:endParaRPr lang="sk-SK" sz="16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600120" indent="-249840" algn="l" defTabSz="914400">
              <a:lnSpc>
                <a:spcPts val="32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VIX (CBOE via Yahoo)</a:t>
            </a:r>
            <a:endParaRPr lang="sk-SK" sz="16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Daily, 2018 to 2024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1,637 aligned trading days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VIX–CEE: - 0.34 to -0.45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CEE–CEE: 0.50 to 0.71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41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5" descr="fig2_correlation_heatmap.png"/>
          <p:cNvPicPr/>
          <p:nvPr/>
        </p:nvPicPr>
        <p:blipFill>
          <a:blip r:embed="rId1"/>
          <a:stretch/>
        </p:blipFill>
        <p:spPr>
          <a:xfrm>
            <a:off x="6400080" y="1743480"/>
            <a:ext cx="4498920" cy="4111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1" descr="fig2_correlation_heatmap.png"/>
          <p:cNvPicPr/>
          <p:nvPr/>
        </p:nvPicPr>
        <p:blipFill>
          <a:blip r:embed="rId1"/>
          <a:stretch/>
        </p:blipFill>
        <p:spPr>
          <a:xfrm>
            <a:off x="2977560" y="500040"/>
            <a:ext cx="6235560" cy="569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Methodology: five specifications</a:t>
            </a:r>
            <a:endParaRPr lang="sk-SK" sz="32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9623160" cy="432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Baseline: OLS with Newey-West HAC standard errors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Rolling 252-day windows: stability of the coefficient over time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Regime split: interaction term for VIX &gt; 25 versus calm regime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GARCH(1,1) standardization: returns scaled by conditional volatility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Subperiod analysis: pre-COVID versus post-COVID samples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47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Baseline result</a:t>
            </a:r>
            <a:endParaRPr lang="sk-SK" sz="32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819000" y="1500120"/>
            <a:ext cx="5198760" cy="469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VIX change coefficient negative in all 4 markets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Point estimates ≈ -0.0008 per VIX point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Significant at 5% for PX, 10% for BUX &amp; ATX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R² range: 1.27% to 2.50%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51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Picture 5" descr="fig4_coefficients.png"/>
          <p:cNvPicPr/>
          <p:nvPr/>
        </p:nvPicPr>
        <p:blipFill>
          <a:blip r:embed="rId1"/>
          <a:stretch/>
        </p:blipFill>
        <p:spPr>
          <a:xfrm>
            <a:off x="6400080" y="2684160"/>
            <a:ext cx="4498920" cy="223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1" descr="fig4_coefficients.png"/>
          <p:cNvPicPr/>
          <p:nvPr/>
        </p:nvPicPr>
        <p:blipFill>
          <a:blip r:embed="rId1"/>
          <a:stretch/>
        </p:blipFill>
        <p:spPr>
          <a:xfrm>
            <a:off x="228600" y="723600"/>
            <a:ext cx="11446560" cy="567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Rolling window</a:t>
            </a:r>
            <a:endParaRPr lang="sk-SK" sz="32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19000" y="1500120"/>
            <a:ext cx="5198760" cy="469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1,384 rolling 252-day windows per market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Coefficient negative in 97 to 99% of windows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Deepens during COVID-19 (2020)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Deepens during Russia-Ukraine (2022)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Sign almost never flips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57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5" descr="fig5_rolling.png"/>
          <p:cNvPicPr/>
          <p:nvPr/>
        </p:nvPicPr>
        <p:blipFill>
          <a:blip r:embed="rId1"/>
          <a:stretch/>
        </p:blipFill>
        <p:spPr>
          <a:xfrm>
            <a:off x="6400080" y="2682720"/>
            <a:ext cx="4498920" cy="223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1" descr="fig5_rolling.png"/>
          <p:cNvPicPr/>
          <p:nvPr/>
        </p:nvPicPr>
        <p:blipFill>
          <a:blip r:embed="rId1"/>
          <a:stretch/>
        </p:blipFill>
        <p:spPr>
          <a:xfrm>
            <a:off x="799920" y="720360"/>
            <a:ext cx="10590840" cy="525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Regime: predictability weakens in crises</a:t>
            </a:r>
            <a:endParaRPr lang="sk-SK" sz="32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19000" y="1500120"/>
            <a:ext cx="5198760" cy="469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Crisis = VIX &gt; 25 (304 days, 18.6%)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Calm effect is 2 to 3× stronger than crisis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Contradicts contagion-amplification (H3)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Why? Signal-to-noise during crises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63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5" descr="fig6_regime.png"/>
          <p:cNvPicPr/>
          <p:nvPr/>
        </p:nvPicPr>
        <p:blipFill>
          <a:blip r:embed="rId1"/>
          <a:stretch/>
        </p:blipFill>
        <p:spPr>
          <a:xfrm>
            <a:off x="6400080" y="2583000"/>
            <a:ext cx="4498920" cy="243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1" descr="fig6_regime.png"/>
          <p:cNvPicPr/>
          <p:nvPr/>
        </p:nvPicPr>
        <p:blipFill>
          <a:blip r:embed="rId1"/>
          <a:stretch/>
        </p:blipFill>
        <p:spPr>
          <a:xfrm>
            <a:off x="826560" y="500040"/>
            <a:ext cx="10537560" cy="569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GARCH(1,1) robustness</a:t>
            </a:r>
            <a:endParaRPr lang="sk-SK" sz="32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19000" y="1500120"/>
            <a:ext cx="5198760" cy="469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Fit GARCH(1,1) to each market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Standardize returns by σ_t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Persistence: α+β = 0.95 to 0.96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After standardization: 1% significance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600120" indent="-249840" algn="l" defTabSz="914400">
              <a:lnSpc>
                <a:spcPts val="32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in all 4 markets</a:t>
            </a:r>
            <a:endParaRPr lang="sk-SK" sz="16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Heteroskedasticity attenuated the baseline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69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5" descr="fig7_garch_vol.png"/>
          <p:cNvPicPr/>
          <p:nvPr/>
        </p:nvPicPr>
        <p:blipFill>
          <a:blip r:embed="rId1"/>
          <a:stretch/>
        </p:blipFill>
        <p:spPr>
          <a:xfrm>
            <a:off x="6400080" y="2382480"/>
            <a:ext cx="4498920" cy="283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fig7_garch_vol.png"/>
          <p:cNvPicPr/>
          <p:nvPr/>
        </p:nvPicPr>
        <p:blipFill>
          <a:blip r:embed="rId1"/>
          <a:stretch/>
        </p:blipFill>
        <p:spPr>
          <a:xfrm>
            <a:off x="781920" y="500040"/>
            <a:ext cx="9047160" cy="569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Subperiod analysis</a:t>
            </a:r>
            <a:endParaRPr lang="sk-SK" sz="32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19000" y="1500120"/>
            <a:ext cx="5198760" cy="469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Pre-COVID (488 obs):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600120" indent="-249840" algn="l" defTabSz="914400">
              <a:lnSpc>
                <a:spcPts val="32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β ≈ −0.0015 across markets</a:t>
            </a:r>
            <a:endParaRPr lang="sk-SK" sz="16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Post-COVID (702 obs):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600120" indent="-249840" algn="l" defTabSz="914400">
              <a:lnSpc>
                <a:spcPts val="32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β ≈ −0.0010</a:t>
            </a:r>
            <a:endParaRPr lang="sk-SK" sz="16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All 12 regressions significant at 1%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spcBef>
                <a:spcPts val="300"/>
              </a:spcBef>
              <a:buNone/>
              <a:tabLst>
                <a:tab pos="0" algn="l"/>
              </a:tabLst>
            </a:pPr>
            <a:endParaRPr lang="sk-SK" sz="12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49840" indent="-249840" algn="l" defTabSz="914400">
              <a:lnSpc>
                <a:spcPts val="3200"/>
              </a:lnSpc>
              <a:spcBef>
                <a:spcPts val="400"/>
              </a:spcBef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Pre-COVID R²:</a:t>
            </a:r>
            <a:endParaRPr lang="sk-SK" sz="18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600120" indent="-249840" algn="l" defTabSz="914400">
              <a:lnSpc>
                <a:spcPts val="32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WIG20 5.1%, BUX 6.3%</a:t>
            </a:r>
            <a:endParaRPr lang="sk-SK" sz="16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600120" indent="-249840" algn="l" defTabSz="914400">
              <a:lnSpc>
                <a:spcPts val="32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ATX 6.1%, PX 9.4%</a:t>
            </a:r>
            <a:endParaRPr lang="sk-SK" sz="16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75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5" descr="fig8_subperiod.png"/>
          <p:cNvPicPr/>
          <p:nvPr/>
        </p:nvPicPr>
        <p:blipFill>
          <a:blip r:embed="rId1"/>
          <a:stretch/>
        </p:blipFill>
        <p:spPr>
          <a:xfrm>
            <a:off x="6400080" y="2583000"/>
            <a:ext cx="4498920" cy="243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fig8_subperiod.png"/>
          <p:cNvPicPr/>
          <p:nvPr/>
        </p:nvPicPr>
        <p:blipFill>
          <a:blip r:embed="rId1"/>
          <a:stretch/>
        </p:blipFill>
        <p:spPr>
          <a:xfrm>
            <a:off x="826560" y="500040"/>
            <a:ext cx="10537560" cy="569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Main findings</a:t>
            </a:r>
            <a:endParaRPr lang="sk-SK" sz="32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9623160" cy="432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VIX changes negatively predict next-day CEE returns in every market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Effect holds at 1% significance in 4 of 5 specifications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Strongest in calm regimes, weakens in crisis periods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Strongest in the pre-COVID period (PX R² reaches 9.4%)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Persistence: 97-99% of rolling windows show negative coefficient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81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843480"/>
            <a:ext cx="96231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Two takeaways &amp; Further Analysis</a:t>
            </a:r>
            <a:endParaRPr lang="sk-SK" sz="32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9623160" cy="432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Investors: long VIX positions offer partial CEE hedge in calm markets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Regulators: contemporaneous co-movement does not extrapolate to predictive transmission during crises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algn="l" defTabSz="914400">
              <a:lnSpc>
                <a:spcPts val="3200"/>
              </a:lnSpc>
              <a:buNone/>
              <a:tabLst>
                <a:tab pos="0" algn="l"/>
              </a:tabLst>
            </a:pP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algn="l" defTabSz="914400">
              <a:lnSpc>
                <a:spcPts val="3200"/>
              </a:lnSpc>
              <a:buClr>
                <a:srgbClr val="BC204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Extensions: higher-frequency data, quantile regression, local volatility indices (V2X), Markov-switching regimes</a:t>
            </a:r>
            <a:endParaRPr lang="sk-SK" sz="20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85" name="Footer Placeholder 4"/>
          <p:cNvSpPr/>
          <p:nvPr/>
        </p:nvSpPr>
        <p:spPr>
          <a:xfrm>
            <a:off x="4038480" y="6356520"/>
            <a:ext cx="49687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Študentská vedecko-odborná činnosť </a:t>
            </a: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Date Placeholder 3"/>
          <p:cNvSpPr/>
          <p:nvPr/>
        </p:nvSpPr>
        <p:spPr>
          <a:xfrm>
            <a:off x="838080" y="6336360"/>
            <a:ext cx="2742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Dátum 20.05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.202</a:t>
            </a:r>
            <a:r>
              <a:rPr lang="sk-SK" sz="1800" b="0" u="none" strike="noStrike">
                <a:solidFill>
                  <a:schemeClr val="dk1"/>
                </a:solidFill>
                <a:effectLst/>
                <a:uFillTx/>
                <a:latin typeface="Corbe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708120"/>
            <a:ext cx="8114760" cy="98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k-SK" sz="4000" b="1" u="none" strike="noStrike">
                <a:solidFill>
                  <a:srgbClr val="BC204B"/>
                </a:solidFill>
                <a:effectLst/>
                <a:uFillTx/>
                <a:latin typeface="Corbel"/>
              </a:rPr>
              <a:t>Otázky</a:t>
            </a:r>
            <a:endParaRPr lang="sk-SK" sz="4000" b="1" u="none" strike="noStrike">
              <a:solidFill>
                <a:srgbClr val="BC204B"/>
              </a:solidFill>
              <a:effectLst/>
              <a:uFillTx/>
              <a:latin typeface="Corbe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8114760" cy="432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ts val="3200"/>
              </a:lnSpc>
              <a:buNone/>
            </a:pPr>
            <a:endParaRPr lang="sk-SK" sz="2400" b="0" u="none" strike="noStrik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89" name="Title 1"/>
          <p:cNvSpPr/>
          <p:nvPr/>
        </p:nvSpPr>
        <p:spPr>
          <a:xfrm>
            <a:off x="10329840" y="2733120"/>
            <a:ext cx="1671480" cy="139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90000" bIns="45000" anchor="ctr">
            <a:normAutofit fontScale="85000" lnSpcReduction="19999"/>
          </a:bodyPr>
          <a:p>
            <a:pPr algn="just" defTabSz="914400">
              <a:lnSpc>
                <a:spcPct val="90000"/>
              </a:lnSpc>
            </a:pPr>
            <a:r>
              <a:rPr lang="sk-SK" sz="40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ŠVOČ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lang="sk-SK" sz="56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2026</a:t>
            </a:r>
            <a:br>
              <a:rPr sz="4000"/>
            </a:br>
            <a:r>
              <a:rPr lang="sk-SK" sz="4000" b="1" u="none" strike="noStrike">
                <a:solidFill>
                  <a:schemeClr val="lt1"/>
                </a:solidFill>
                <a:effectLst/>
                <a:uFillTx/>
                <a:latin typeface="Corbel"/>
              </a:rPr>
              <a:t>FMUK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otív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 pitchFamily="0" charset="1"/>
        <a:ea typeface=""/>
        <a:cs typeface=""/>
      </a:majorFont>
      <a:minorFont>
        <a:latin typeface="Corbel" panose="020B0503020204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1604D584877EF4DAD9C1BECD3F9AA4F" ma:contentTypeVersion="8" ma:contentTypeDescription="Umožňuje vytvoriť nový dokument." ma:contentTypeScope="" ma:versionID="8de07e71424bbeb14f46d72cdd810b77">
  <xsd:schema xmlns:xsd="http://www.w3.org/2001/XMLSchema" xmlns:xs="http://www.w3.org/2001/XMLSchema" xmlns:p="http://schemas.microsoft.com/office/2006/metadata/properties" xmlns:ns2="c7673380-d5d7-4759-9c34-95e982f8186e" targetNamespace="http://schemas.microsoft.com/office/2006/metadata/properties" ma:root="true" ma:fieldsID="dff56012e82c2f54e4b1560fb396ac07" ns2:_="">
    <xsd:import namespace="c7673380-d5d7-4759-9c34-95e982f818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73380-d5d7-4759-9c34-95e982f818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692CD9-D9D0-4002-868E-E95F513BA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673380-d5d7-4759-9c34-95e982f818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0D0988E-FA7D-43B7-8432-442CDEA5A5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0FBC0D7-4496-435F-96B8-EA6702F433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FM_Master_Slides</Template>
  <TotalTime>29</TotalTime>
  <Application>LibreOffice/26.2.3.2$Linux_X86_64 LibreOffice_project/d4d5ed47b6084125f28d269a5650105d54dde034</Application>
  <AppVersion>15.0000</AppVersion>
  <Words>66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2022-04-11T10:09:55Z</dcterms:created>
  <dc:creator>Mikuš Juraj</dc:creator>
  <dc:description/>
  <dc:language>en-US</dc:language>
  <cp:lastModifiedBy/>
  <dcterms:modified xsi:type="dcterms:W3CDTF">2026-05-20T14:23:07Z</dcterms:modified>
  <cp:revision>6</cp:revision>
  <dc:subject/>
  <dc:title>Prezentácia programu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0x01010081604D584877EF4DAD9C1BECD3F9AA4F</vt:lpwstr>
  </property>
  <property fmtid="{D5CDD505-2E9C-101B-9397-08002B2CF9AE}" pid="3" name="PresentationFormat">
    <vt:lpwstr>Widescreen</vt:lpwstr>
  </property>
  <property fmtid="{D5CDD505-2E9C-101B-9397-08002B2CF9AE}" pid="4" name="Slides">
    <vt:i4>6</vt:i4>
  </property>
</Properties>
</file>